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42711-CBE0-405D-6B67-C04406252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5E5849-6A95-AD04-A65D-CC5612E5A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631E-6FB4-D844-F8A1-52702A283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7D16-A178-B998-3463-6B674B58A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B3F2E-6F33-55B2-6C8B-9FA56B30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58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77D13-2DE3-8467-4041-1221917BF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A967A-9250-DD06-7C2C-3D6E43E60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0A5BF-3B9A-ACED-1AC3-3F9016164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D750F-2BE1-1F3A-815F-E91ABF353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D2563-18E0-11B9-7BE4-C00AF016A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2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BFD4-DF0C-42AD-138C-6C98EC4AF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9E5CC-3650-7332-0599-0528BF284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C811F-86D2-DB87-61A5-893D9D1C7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6D63A-4EEB-EF4C-DA8B-9526267CA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12C51-DE6A-B964-287C-85D2A727C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44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C1CC7-08D6-16CC-E69B-8C4FBD73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ECC6-AEB3-9D9F-FA39-4C30154B22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44032-6FB8-20D5-493F-77D6E288E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B945A-BF52-09EC-E2D0-EF689D950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A3E11-4A49-0741-C630-686FDB609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E238B-D81D-17AF-92E9-D49B4D6FD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8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8977-DAAA-A00B-AE0D-1B7984C88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57683-E394-EE22-F376-474E5D9D9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A48A1-E117-AFF3-065E-5DC22FB75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F946C4-41AB-8E2C-DEC8-52A97DFD8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CFD83B-1898-782F-758B-862A283A5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12CB2-E3B6-D84E-771F-5D507899D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F8F4D5-F8C5-DDAF-C49D-BB032ADEC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89D888-7031-EFCA-D86B-FBB2EF4E1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27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0217-E844-55AC-797F-85E88B63E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5A54BE-832D-F375-29FE-C051BA844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6B54A-F1E8-14F4-EA04-0E17BC7B6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C37A5-DFAF-11B6-B2D5-7E25CFC8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1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081003-F15F-9B10-B76F-2F8BAC139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A5C4DB-5A10-35B3-6095-70A9B972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31ED0-5782-4112-393F-8180E9756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2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3095-D2B7-5230-28C7-4EE4C56F4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59619-3BEF-0B11-A3C5-AF2861D25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5C521-0F1D-E926-254E-06719715F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C635C-10D2-3F8B-A741-CF3CEED55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5D93-5C53-A7AA-B8F6-42B386E8A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E3ABD-3C62-C0FE-1F22-9E56A4561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82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67CEF-001B-BDC1-57A9-5BED26E3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562D20-C54A-9131-C21B-7267DA97D94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0298AE-C933-DE75-47D6-FC73519FA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5F112-EA7F-1A49-CFFD-81CC48A8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70038-3D52-43DF-F1F9-AC85C4765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EF497-52E9-39D3-BC2D-36AD10C98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6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C7C11-3CF3-2A0A-6544-6087109D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78E70-6BB7-83BE-9E5C-E34B5CF39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C22B7-1B6B-2415-0B24-F1A53042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AB86C-E09B-8904-B4CC-C44F9F4CA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23510-9196-C1D7-08FA-B7156298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4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39035D-EBCA-3D62-C8AB-7949966579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DA251-5521-3569-4FDD-94E09F656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9F420-6490-A76B-0B5F-DEA6029E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32DA8-3399-CE8B-CD9C-DDED510F5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1981A-4DAA-BB3C-FEC5-25C4E1E5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78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18204A-F6A9-79C6-7AF5-CC448A63D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F7EE4-1231-181B-ADE3-2CC9D0047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C2B29-D9CC-8A8F-1748-F7F7B142E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352DD-BBB2-66F4-2628-C47D867CC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A0560-B73B-F65A-C941-721AB7B73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8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914400"/>
            <a:ext cx="201168" cy="201168"/>
          </a:xfrm>
          <a:prstGeom prst="ellipse">
            <a:avLst/>
          </a:prstGeom>
          <a:solidFill>
            <a:srgbClr val="29A9FF"/>
          </a:solidFill>
          <a:ln>
            <a:solidFill>
              <a:srgbClr val="2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1463040"/>
            <a:ext cx="201168" cy="20116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0" y="822960"/>
            <a:ext cx="201168" cy="201168"/>
          </a:xfrm>
          <a:prstGeom prst="ellipse">
            <a:avLst/>
          </a:prstGeom>
          <a:solidFill>
            <a:srgbClr val="9D6FFF"/>
          </a:solidFill>
          <a:ln>
            <a:solidFill>
              <a:srgbClr val="9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8240" y="2743200"/>
            <a:ext cx="201168" cy="201168"/>
          </a:xfrm>
          <a:prstGeom prst="ellipse">
            <a:avLst/>
          </a:prstGeom>
          <a:solidFill>
            <a:srgbClr val="2DD499"/>
          </a:solidFill>
          <a:ln>
            <a:solidFill>
              <a:srgbClr val="2DD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24160" y="2926080"/>
            <a:ext cx="201168" cy="201168"/>
          </a:xfrm>
          <a:prstGeom prst="ellipse">
            <a:avLst/>
          </a:prstGeom>
          <a:solidFill>
            <a:srgbClr val="29A9FF"/>
          </a:solidFill>
          <a:ln>
            <a:solidFill>
              <a:srgbClr val="2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0" y="4297680"/>
            <a:ext cx="201168" cy="20116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064240" y="4572000"/>
            <a:ext cx="201168" cy="201168"/>
          </a:xfrm>
          <a:prstGeom prst="ellipse">
            <a:avLst/>
          </a:prstGeom>
          <a:solidFill>
            <a:srgbClr val="9D6FFF"/>
          </a:solidFill>
          <a:ln>
            <a:solidFill>
              <a:srgbClr val="9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138160" y="4937760"/>
            <a:ext cx="201168" cy="201168"/>
          </a:xfrm>
          <a:prstGeom prst="ellipse">
            <a:avLst/>
          </a:prstGeom>
          <a:solidFill>
            <a:srgbClr val="2DD499"/>
          </a:solidFill>
          <a:ln>
            <a:solidFill>
              <a:srgbClr val="2DD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8412480" y="1097280"/>
            <a:ext cx="1463039" cy="548640"/>
          </a:xfrm>
          <a:prstGeom prst="line">
            <a:avLst/>
          </a:prstGeom>
          <a:ln w="19050">
            <a:solidFill>
              <a:srgbClr val="30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875519" y="1005840"/>
            <a:ext cx="1097281" cy="640080"/>
          </a:xfrm>
          <a:prstGeom prst="line">
            <a:avLst/>
          </a:prstGeom>
          <a:ln w="19050">
            <a:solidFill>
              <a:srgbClr val="30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80" y="1097280"/>
            <a:ext cx="548639" cy="1828800"/>
          </a:xfrm>
          <a:prstGeom prst="line">
            <a:avLst/>
          </a:prstGeom>
          <a:ln w="19050">
            <a:solidFill>
              <a:srgbClr val="30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61119" y="2926080"/>
            <a:ext cx="1645921" cy="182880"/>
          </a:xfrm>
          <a:prstGeom prst="line">
            <a:avLst/>
          </a:prstGeom>
          <a:ln w="19050">
            <a:solidFill>
              <a:srgbClr val="30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607040" y="1005840"/>
            <a:ext cx="365760" cy="2103120"/>
          </a:xfrm>
          <a:prstGeom prst="line">
            <a:avLst/>
          </a:prstGeom>
          <a:ln w="19050">
            <a:solidFill>
              <a:srgbClr val="30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19" y="2926080"/>
            <a:ext cx="640081" cy="1554479"/>
          </a:xfrm>
          <a:prstGeom prst="line">
            <a:avLst/>
          </a:prstGeom>
          <a:ln w="19050">
            <a:solidFill>
              <a:srgbClr val="30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601200" y="3108960"/>
            <a:ext cx="1005840" cy="1371599"/>
          </a:xfrm>
          <a:prstGeom prst="line">
            <a:avLst/>
          </a:prstGeom>
          <a:ln w="19050">
            <a:solidFill>
              <a:srgbClr val="30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01200" y="4480559"/>
            <a:ext cx="1645919" cy="274320"/>
          </a:xfrm>
          <a:prstGeom prst="line">
            <a:avLst/>
          </a:prstGeom>
          <a:ln w="19050">
            <a:solidFill>
              <a:srgbClr val="30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229600" y="4480559"/>
            <a:ext cx="1371600" cy="640081"/>
          </a:xfrm>
          <a:prstGeom prst="line">
            <a:avLst/>
          </a:prstGeom>
          <a:ln w="19050">
            <a:solidFill>
              <a:srgbClr val="30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58368" y="566928"/>
            <a:ext cx="1600200" cy="384048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658368"/>
            <a:ext cx="13716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CDCDA"/>
                </a:solidFill>
                <a:latin typeface="Aptos"/>
              </a:defRPr>
            </a:pPr>
            <a:r>
              <a:t>DSA HACKATHON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1572768"/>
            <a:ext cx="621792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4800" b="1" i="0">
                <a:solidFill>
                  <a:srgbClr val="F4F8FF"/>
                </a:solidFill>
                <a:latin typeface="Aptos"/>
              </a:defRPr>
            </a:pPr>
            <a:r>
              <a:t>LifeData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2542032"/>
            <a:ext cx="621792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29A9FF"/>
                </a:solidFill>
                <a:latin typeface="Aptos"/>
              </a:defRPr>
            </a:pPr>
            <a:r>
              <a:t>Large-Scale Personal Data</a:t>
            </a:r>
          </a:p>
          <a:p>
            <a:pPr algn="l">
              <a:spcAft>
                <a:spcPts val="400"/>
              </a:spcAft>
              <a:defRPr sz="2500" b="1" i="0">
                <a:solidFill>
                  <a:srgbClr val="29A9FF"/>
                </a:solidFill>
                <a:latin typeface="Aptos"/>
              </a:defRPr>
            </a:pPr>
            <a:r>
              <a:t>Analytics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822191"/>
            <a:ext cx="6126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A4B3CA"/>
                </a:solidFill>
                <a:latin typeface="Aptos"/>
              </a:defRPr>
            </a:pPr>
            <a:r>
              <a:t>Understand Your Data. Optimize Every Operation.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37960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A4B3C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2D203C-259A-A225-1150-A5E264FE3883}"/>
              </a:ext>
            </a:extLst>
          </p:cNvPr>
          <p:cNvSpPr txBox="1"/>
          <p:nvPr/>
        </p:nvSpPr>
        <p:spPr>
          <a:xfrm>
            <a:off x="745236" y="4462272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Team Members:</a:t>
            </a:r>
            <a:r>
              <a:rPr lang="en-US" sz="1800" dirty="0"/>
              <a:t>:</a:t>
            </a:r>
            <a:br>
              <a:rPr lang="en-US" sz="1800" dirty="0"/>
            </a:br>
            <a:r>
              <a:rPr lang="en-US" sz="1800" dirty="0"/>
              <a:t>	</a:t>
            </a:r>
            <a:r>
              <a:rPr lang="en-US" sz="1800" dirty="0">
                <a:solidFill>
                  <a:schemeClr val="bg1"/>
                </a:solidFill>
              </a:rPr>
              <a:t>2500030309 -  Ch. Diddi Naga Sai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IN" dirty="0">
                <a:solidFill>
                  <a:schemeClr val="bg1"/>
                </a:solidFill>
              </a:rPr>
              <a:t>2500032293 - Paul Charan Tej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IN" dirty="0">
                <a:solidFill>
                  <a:schemeClr val="bg1"/>
                </a:solidFill>
              </a:rPr>
              <a:t>2500031112 – Naga Phaneendra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CDCDA"/>
                </a:solidFill>
                <a:latin typeface="Aptos"/>
              </a:defRPr>
            </a:pPr>
            <a: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4F8FF"/>
                </a:solidFill>
                <a:latin typeface="Aptos"/>
              </a:defRPr>
            </a:pPr>
            <a:r>
              <a:t>Personal data is rich — but fragmented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Activity logs, notes, sensor observations and preferences are difficult to search and analyze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A4B3C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20440" cy="141732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84248"/>
            <a:ext cx="41148" cy="1197864"/>
          </a:xfrm>
          <a:prstGeom prst="rect">
            <a:avLst/>
          </a:prstGeom>
          <a:solidFill>
            <a:srgbClr val="29A9FF"/>
          </a:solidFill>
          <a:ln>
            <a:solidFill>
              <a:srgbClr val="2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29A9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39112"/>
            <a:ext cx="27157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4F8FF"/>
                </a:solidFill>
                <a:latin typeface="Aptos"/>
              </a:defRPr>
            </a:pPr>
            <a:r>
              <a:t>Scattered formats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96312"/>
            <a:ext cx="3136392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Text, timestamps, categories and device observations live in different shapes.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20440" cy="141732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984248"/>
            <a:ext cx="41148" cy="1197864"/>
          </a:xfrm>
          <a:prstGeom prst="rect">
            <a:avLst/>
          </a:prstGeom>
          <a:solidFill>
            <a:srgbClr val="9D6FFF"/>
          </a:solidFill>
          <a:ln>
            <a:solidFill>
              <a:srgbClr val="9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2039112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9D6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2039112"/>
            <a:ext cx="27157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4F8FF"/>
                </a:solidFill>
                <a:latin typeface="Aptos"/>
              </a:defRPr>
            </a:pPr>
            <a:r>
              <a:t>Slow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96312"/>
            <a:ext cx="3136392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Finding a keyword, repeated phrase or similar entry becomes expensive as records grow.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520440" cy="141732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984248"/>
            <a:ext cx="41148" cy="1197864"/>
          </a:xfrm>
          <a:prstGeom prst="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039112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FFBE5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039112"/>
            <a:ext cx="2715767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4F8FF"/>
                </a:solidFill>
                <a:latin typeface="Aptos"/>
              </a:defRPr>
            </a:pPr>
            <a:r>
              <a:t>Hard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496312"/>
            <a:ext cx="3136392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Resource allocation, constraints and large-scale aggregation need more than simple filters.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22191"/>
            <a:ext cx="10927080" cy="1508760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096512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CDCDA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005072"/>
            <a:ext cx="8412480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100" b="1" i="0">
                <a:solidFill>
                  <a:srgbClr val="F4F8FF"/>
                </a:solidFill>
                <a:latin typeface="Aptos"/>
              </a:defRPr>
            </a:pPr>
            <a:r>
              <a:t>How can we turn heterogeneous records into searchable, comparable and optimizable information — while making the algorithms understandable?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30425E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A4B3CA"/>
                </a:solidFill>
                <a:latin typeface="Aptos"/>
              </a:defRPr>
            </a:pPr>
            <a:r>
              <a:t>LifeData • DSA Hackathon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55624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A4B3CA"/>
                </a:solidFill>
                <a:latin typeface="Aptos"/>
              </a:defRPr>
            </a:pPr>
            <a:r>
              <a:t>CORE JAVA  |  JAVA SWING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CDCDA"/>
                </a:solidFill>
                <a:latin typeface="Aptos"/>
              </a:defRPr>
            </a:pPr>
            <a:r>
              <a:t>02 /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4F8FF"/>
                </a:solidFill>
                <a:latin typeface="Aptos"/>
              </a:defRPr>
            </a:pPr>
            <a:r>
              <a:t>One desktop studio. Six algorithmic lenses.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LifeData combines synthetic records, interactive DSA workspaces and performance measurements in one Java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A4B3C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1965960" cy="1170432"/>
          </a:xfrm>
          <a:prstGeom prst="roundRect">
            <a:avLst/>
          </a:prstGeom>
          <a:solidFill>
            <a:srgbClr val="162034"/>
          </a:solidFill>
          <a:ln>
            <a:solidFill>
              <a:srgbClr val="2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691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29A9FF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691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Synthetic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2578608"/>
            <a:ext cx="29260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900" b="1" i="0">
                <a:solidFill>
                  <a:srgbClr val="F4F8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2194560"/>
            <a:ext cx="1965960" cy="1170432"/>
          </a:xfrm>
          <a:prstGeom prst="roundRect">
            <a:avLst/>
          </a:prstGeom>
          <a:solidFill>
            <a:srgbClr val="162034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1" y="2423160"/>
            <a:ext cx="1691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2CDCDA"/>
                </a:solidFill>
                <a:latin typeface="Aptos"/>
              </a:defRPr>
            </a:pPr>
            <a:r>
              <a:t>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1" y="2788920"/>
            <a:ext cx="1691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Search &amp;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578608"/>
            <a:ext cx="29260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900" b="1" i="0">
                <a:solidFill>
                  <a:srgbClr val="F4F8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9783" y="2194560"/>
            <a:ext cx="1965960" cy="1170432"/>
          </a:xfrm>
          <a:prstGeom prst="roundRect">
            <a:avLst/>
          </a:prstGeom>
          <a:solidFill>
            <a:srgbClr val="162034"/>
          </a:solidFill>
          <a:ln>
            <a:solidFill>
              <a:srgbClr val="9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66944" y="2423160"/>
            <a:ext cx="1691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9D6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788920"/>
            <a:ext cx="1691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6 DSA modules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7455" y="2578608"/>
            <a:ext cx="29260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900" b="1" i="0">
                <a:solidFill>
                  <a:srgbClr val="F4F8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1775" y="2194560"/>
            <a:ext cx="1965960" cy="1170432"/>
          </a:xfrm>
          <a:prstGeom prst="roundRect">
            <a:avLst/>
          </a:prstGeom>
          <a:solidFill>
            <a:srgbClr val="162034"/>
          </a:solidFill>
          <a:ln>
            <a:solidFill>
              <a:srgbClr val="2DD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88936" y="2423160"/>
            <a:ext cx="1691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2DD499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2788920"/>
            <a:ext cx="1691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Visual traces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7" y="2578608"/>
            <a:ext cx="29260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900" b="1" i="0">
                <a:solidFill>
                  <a:srgbClr val="F4F8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73767" y="2194560"/>
            <a:ext cx="1965960" cy="1170432"/>
          </a:xfrm>
          <a:prstGeom prst="roundRect">
            <a:avLst/>
          </a:prstGeom>
          <a:solidFill>
            <a:srgbClr val="162034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0928" y="2423160"/>
            <a:ext cx="1691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FFBE50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788920"/>
            <a:ext cx="1691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Benchmarks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069080"/>
            <a:ext cx="3383280" cy="123444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178808"/>
            <a:ext cx="41148" cy="1014984"/>
          </a:xfrm>
          <a:prstGeom prst="rect">
            <a:avLst/>
          </a:prstGeom>
          <a:solidFill>
            <a:srgbClr val="29A9FF"/>
          </a:solidFill>
          <a:ln>
            <a:solidFill>
              <a:srgbClr val="2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233672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29A9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233672"/>
            <a:ext cx="257860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4F8FF"/>
                </a:solidFill>
                <a:latin typeface="Aptos"/>
              </a:defRPr>
            </a:pPr>
            <a:r>
              <a:t>Standalone by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690872"/>
            <a:ext cx="299923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No web server, API layer or database server is required.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4069080"/>
            <a:ext cx="3383280" cy="123444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07408" y="4178808"/>
            <a:ext cx="41148" cy="1014984"/>
          </a:xfrm>
          <a:prstGeom prst="rect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08576" y="4233672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2CDCD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233672"/>
            <a:ext cx="257860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4F8FF"/>
                </a:solidFill>
                <a:latin typeface="Aptos"/>
              </a:defRPr>
            </a:pPr>
            <a:r>
              <a:t>Interactive by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8576" y="4690872"/>
            <a:ext cx="299923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Inputs, outputs, tables, graph views and algorithm traces.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4069080"/>
            <a:ext cx="3383280" cy="123444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83296" y="4178808"/>
            <a:ext cx="41148" cy="1014984"/>
          </a:xfrm>
          <a:prstGeom prst="rect">
            <a:avLst/>
          </a:prstGeom>
          <a:solidFill>
            <a:srgbClr val="9D6FFF"/>
          </a:solidFill>
          <a:ln>
            <a:solidFill>
              <a:srgbClr val="9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84464" y="4233672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9D6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3376" y="4233672"/>
            <a:ext cx="2578607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4F8FF"/>
                </a:solidFill>
                <a:latin typeface="Aptos"/>
              </a:defRPr>
            </a:pPr>
            <a:r>
              <a:t>Hackathon-ready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4690872"/>
            <a:ext cx="299923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A judge can inspect the algorithm, run it and discuss its complexity.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30425E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A4B3CA"/>
                </a:solidFill>
                <a:latin typeface="Aptos"/>
              </a:defRPr>
            </a:pPr>
            <a:r>
              <a:t>LifeData • DSA Hackathon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655624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A4B3CA"/>
                </a:solidFill>
                <a:latin typeface="Aptos"/>
              </a:defRPr>
            </a:pPr>
            <a:r>
              <a:t>CORE JAVA  |  JAVA SWING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CDCDA"/>
                </a:solidFill>
                <a:latin typeface="Aptos"/>
              </a:defRPr>
            </a:pPr>
            <a:r>
              <a:t>03 /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4F8FF"/>
                </a:solidFill>
                <a:latin typeface="Aptos"/>
              </a:defRPr>
            </a:pPr>
            <a:r>
              <a:t>Built around diverse record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The current prototype seeds synthetic activity and wellness-style records and supports dataset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A4B3C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4937760" cy="406908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84831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CDCDA"/>
                </a:solidFill>
                <a:latin typeface="Aptos"/>
              </a:defRPr>
            </a:pPr>
            <a:r>
              <a:t>SAMPLE 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06040"/>
            <a:ext cx="4480560" cy="539496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752344"/>
            <a:ext cx="8229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9A9FF"/>
                </a:solidFill>
                <a:latin typeface="Aptos"/>
              </a:defRPr>
            </a:pPr>
            <a:r>
              <a:t>REC-101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52344"/>
            <a:ext cx="1325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A4B3CA"/>
                </a:solidFill>
                <a:latin typeface="Aptos"/>
              </a:defRPr>
            </a:pPr>
            <a:r>
              <a:t>Fitness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52344"/>
            <a:ext cx="19659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F4F8FF"/>
                </a:solidFill>
                <a:latin typeface="Aptos"/>
              </a:defRPr>
            </a:pPr>
            <a:r>
              <a:t>Morning Jogging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10128"/>
            <a:ext cx="4480560" cy="539496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456432"/>
            <a:ext cx="8229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9D6FFF"/>
                </a:solidFill>
                <a:latin typeface="Aptos"/>
              </a:defRPr>
            </a:pPr>
            <a:r>
              <a:t>REC-102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456432"/>
            <a:ext cx="1325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A4B3CA"/>
                </a:solidFill>
                <a:latin typeface="Aptos"/>
              </a:defRPr>
            </a:pPr>
            <a:r>
              <a:t>Mental 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456432"/>
            <a:ext cx="19659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F4F8FF"/>
                </a:solidFill>
                <a:latin typeface="Aptos"/>
              </a:defRPr>
            </a:pPr>
            <a:r>
              <a:t>Guided Meditation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14216"/>
            <a:ext cx="4480560" cy="539496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160520"/>
            <a:ext cx="8229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DD499"/>
                </a:solidFill>
                <a:latin typeface="Aptos"/>
              </a:defRPr>
            </a:pPr>
            <a:r>
              <a:t>REC-103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160520"/>
            <a:ext cx="1325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A4B3CA"/>
                </a:solidFill>
                <a:latin typeface="Aptos"/>
              </a:defRPr>
            </a:pPr>
            <a:r>
              <a:t>Fitness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160520"/>
            <a:ext cx="19659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F4F8FF"/>
                </a:solidFill>
                <a:latin typeface="Aptos"/>
              </a:defRPr>
            </a:pPr>
            <a:r>
              <a:t>Brisk Walking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18304"/>
            <a:ext cx="4480560" cy="539496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864608"/>
            <a:ext cx="8229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BE50"/>
                </a:solidFill>
                <a:latin typeface="Aptos"/>
              </a:defRPr>
            </a:pPr>
            <a:r>
              <a:t>REC-104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864608"/>
            <a:ext cx="1325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A4B3CA"/>
                </a:solidFill>
                <a:latin typeface="Aptos"/>
              </a:defRPr>
            </a:pPr>
            <a:r>
              <a:t>Cardio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864608"/>
            <a:ext cx="19659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F4F8FF"/>
                </a:solidFill>
                <a:latin typeface="Aptos"/>
              </a:defRPr>
            </a:pPr>
            <a:r>
              <a:t>Cycling 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1965960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F4F8FF"/>
                </a:solidFill>
                <a:latin typeface="Aptos"/>
              </a:defRPr>
            </a:pPr>
            <a:r>
              <a:t>Example fields</a:t>
            </a:r>
          </a:p>
        </p:txBody>
      </p:sp>
      <p:sp>
        <p:nvSpPr>
          <p:cNvPr id="25" name="Oval 24"/>
          <p:cNvSpPr/>
          <p:nvPr/>
        </p:nvSpPr>
        <p:spPr>
          <a:xfrm>
            <a:off x="6172200" y="2496312"/>
            <a:ext cx="109728" cy="10972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1656" y="2423160"/>
            <a:ext cx="4526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4F8FF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2706624"/>
            <a:ext cx="448056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A4B3CA"/>
                </a:solidFill>
                <a:latin typeface="Aptos"/>
              </a:defRPr>
            </a:pPr>
            <a:r>
              <a:t>Unique record ID and date</a:t>
            </a:r>
          </a:p>
        </p:txBody>
      </p:sp>
      <p:sp>
        <p:nvSpPr>
          <p:cNvPr id="28" name="Oval 27"/>
          <p:cNvSpPr/>
          <p:nvPr/>
        </p:nvSpPr>
        <p:spPr>
          <a:xfrm>
            <a:off x="6172200" y="3090672"/>
            <a:ext cx="109728" cy="10972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1656" y="3017520"/>
            <a:ext cx="4526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4F8FF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3300984"/>
            <a:ext cx="448056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A4B3CA"/>
                </a:solidFill>
                <a:latin typeface="Aptos"/>
              </a:defRPr>
            </a:pPr>
            <a:r>
              <a:t>Category, tags and activity</a:t>
            </a:r>
          </a:p>
        </p:txBody>
      </p:sp>
      <p:sp>
        <p:nvSpPr>
          <p:cNvPr id="31" name="Oval 30"/>
          <p:cNvSpPr/>
          <p:nvPr/>
        </p:nvSpPr>
        <p:spPr>
          <a:xfrm>
            <a:off x="6172200" y="3685032"/>
            <a:ext cx="109728" cy="10972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91656" y="3611880"/>
            <a:ext cx="4526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4F8FF"/>
                </a:solidFill>
                <a:latin typeface="Aptos"/>
              </a:defRPr>
            </a:pPr>
            <a:r>
              <a:t>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3895344"/>
            <a:ext cx="448056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A4B3CA"/>
                </a:solidFill>
                <a:latin typeface="Aptos"/>
              </a:defRPr>
            </a:pPr>
            <a:r>
              <a:t>Textual notes and description</a:t>
            </a:r>
          </a:p>
        </p:txBody>
      </p:sp>
      <p:sp>
        <p:nvSpPr>
          <p:cNvPr id="34" name="Oval 33"/>
          <p:cNvSpPr/>
          <p:nvPr/>
        </p:nvSpPr>
        <p:spPr>
          <a:xfrm>
            <a:off x="6172200" y="4279392"/>
            <a:ext cx="109728" cy="10972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91656" y="4206240"/>
            <a:ext cx="4526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4F8FF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4489703"/>
            <a:ext cx="448056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A4B3CA"/>
                </a:solidFill>
                <a:latin typeface="Aptos"/>
              </a:defRPr>
            </a:pPr>
            <a:r>
              <a:t>Sensor-style value or metric</a:t>
            </a:r>
          </a:p>
        </p:txBody>
      </p:sp>
      <p:sp>
        <p:nvSpPr>
          <p:cNvPr id="37" name="Oval 36"/>
          <p:cNvSpPr/>
          <p:nvPr/>
        </p:nvSpPr>
        <p:spPr>
          <a:xfrm>
            <a:off x="6172200" y="4873752"/>
            <a:ext cx="109728" cy="10972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91656" y="4800600"/>
            <a:ext cx="4526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4F8FF"/>
                </a:solidFill>
                <a:latin typeface="Aptos"/>
              </a:defRPr>
            </a:pPr>
            <a:r>
              <a:t>Metadata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5084064"/>
            <a:ext cx="448056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A4B3CA"/>
                </a:solidFill>
                <a:latin typeface="Aptos"/>
              </a:defRPr>
            </a:pPr>
            <a:r>
              <a:t>Device and status information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5394960"/>
            <a:ext cx="4892040" cy="438912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5080" y="5532120"/>
            <a:ext cx="45262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2CDCDA"/>
                </a:solidFill>
                <a:latin typeface="Aptos"/>
              </a:defRPr>
            </a:pPr>
            <a:r>
              <a:t>Synthetic data • In-memory collections • CSV persistence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30425E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A4B3CA"/>
                </a:solidFill>
                <a:latin typeface="Aptos"/>
              </a:defRPr>
            </a:pPr>
            <a:r>
              <a:t>LifeData • DSA Hackathon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655624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A4B3CA"/>
                </a:solidFill>
                <a:latin typeface="Aptos"/>
              </a:defRPr>
            </a:pPr>
            <a:r>
              <a:t>CORE JAVA  |  JAVA SWING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CDCDA"/>
                </a:solidFill>
                <a:latin typeface="Aptos"/>
              </a:defRPr>
            </a:pPr>
            <a:r>
              <a:t>04 / DSA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4F8FF"/>
                </a:solidFill>
                <a:latin typeface="Aptos"/>
              </a:defRPr>
            </a:pPr>
            <a:r>
              <a:t>Six modules turn theory into a working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Each workspace connects a problem pattern to an algorithm family and a visible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A4B3C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566160" cy="1572768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29A9FF"/>
                </a:solidFill>
                <a:latin typeface="Aptos"/>
              </a:defRPr>
            </a:pPr>
            <a:r>
              <a:t>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1984248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4F8FF"/>
                </a:solidFill>
                <a:latin typeface="Aptos"/>
              </a:defRPr>
            </a:pPr>
            <a:r>
              <a:t>String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95728"/>
            <a:ext cx="3154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9A9FF"/>
                </a:solidFill>
                <a:latin typeface="Aptos"/>
              </a:defRPr>
            </a:pPr>
            <a:r>
              <a:t>KMP • Z • Rabin–Karp • Aho–Corasick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862072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Keyword matches and pattern traces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828800"/>
            <a:ext cx="3566160" cy="1572768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993392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2CDCDA"/>
                </a:solidFill>
                <a:latin typeface="Aptos"/>
              </a:defRPr>
            </a:pPr>
            <a: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984248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4F8FF"/>
                </a:solidFill>
                <a:latin typeface="Aptos"/>
              </a:defRPr>
            </a:pPr>
            <a:r>
              <a:t>Suffix structures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395728"/>
            <a:ext cx="3154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CDCDA"/>
                </a:solidFill>
                <a:latin typeface="Aptos"/>
              </a:defRPr>
            </a:pPr>
            <a:r>
              <a:t>Suffix Array • Kasai LCP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7" y="2862072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Substring search and repeated phrases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828800"/>
            <a:ext cx="3566160" cy="1572768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1993392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9D6FFF"/>
                </a:solidFill>
                <a:latin typeface="Aptos"/>
              </a:defRPr>
            </a:pPr>
            <a:r>
              <a:t>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984248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4F8FF"/>
                </a:solidFill>
                <a:latin typeface="Aptos"/>
              </a:defRPr>
            </a:pPr>
            <a:r>
              <a:t>Dynamic programming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95728"/>
            <a:ext cx="3154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9D6FFF"/>
                </a:solidFill>
                <a:latin typeface="Aptos"/>
              </a:defRPr>
            </a:pPr>
            <a:r>
              <a:t>Edit Distance • Bitmask DP • Matrix 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862072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DP tables, edits and optimal choices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730752"/>
            <a:ext cx="3566160" cy="1572768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895344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2DD499"/>
                </a:solidFill>
                <a:latin typeface="Aptos"/>
              </a:defRPr>
            </a:pPr>
            <a:r>
              <a:t>M4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" y="3886200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4F8FF"/>
                </a:solidFill>
                <a:latin typeface="Aptos"/>
              </a:defRPr>
            </a:pPr>
            <a:r>
              <a:t>Network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297680"/>
            <a:ext cx="3154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DD499"/>
                </a:solidFill>
                <a:latin typeface="Aptos"/>
              </a:defRPr>
            </a:pPr>
            <a:r>
              <a:t>Ford–Fulkerson • Edmonds–Karp • Dinic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764024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Maximum flow, cuts and matching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3730752"/>
            <a:ext cx="3566160" cy="1572768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3895344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FBE50"/>
                </a:solidFill>
                <a:latin typeface="Aptos"/>
              </a:defRPr>
            </a:pPr>
            <a:r>
              <a:t>M5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3886200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4F8FF"/>
                </a:solidFill>
                <a:latin typeface="Aptos"/>
              </a:defRPr>
            </a:pPr>
            <a:r>
              <a:t>Constraint optimization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7" y="4297680"/>
            <a:ext cx="3154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BE50"/>
                </a:solidFill>
                <a:latin typeface="Aptos"/>
              </a:defRPr>
            </a:pPr>
            <a:r>
              <a:t>3-SAT • CLIQUE reductions • Vertex 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7" y="4764024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Assignments, graph transforms, approximation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02752" y="3730752"/>
            <a:ext cx="3566160" cy="1572768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85632" y="3895344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F6987"/>
                </a:solidFill>
                <a:latin typeface="Aptos"/>
              </a:defRPr>
            </a:pPr>
            <a:r>
              <a:t>M6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886200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4F8FF"/>
                </a:solidFill>
                <a:latin typeface="Aptos"/>
              </a:defRPr>
            </a:pPr>
            <a:r>
              <a:t>Randomized &amp; parallel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297680"/>
            <a:ext cx="3154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6987"/>
                </a:solidFill>
                <a:latin typeface="Aptos"/>
              </a:defRPr>
            </a:pPr>
            <a:r>
              <a:t>QuickSort • Reservoir • Miller–Rabin • Scan/Reduce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764024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Step traces, samples and work/span 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806440"/>
            <a:ext cx="10789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1">
                <a:solidFill>
                  <a:srgbClr val="FFBE50"/>
                </a:solidFill>
                <a:latin typeface="Aptos"/>
              </a:defRPr>
            </a:pPr>
            <a:r>
              <a:t>Implementation note: suffix-array construction in the supplied code is a comparison-sort baseline; SA-IS is an extension opportunity.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30425E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A4B3CA"/>
                </a:solidFill>
                <a:latin typeface="Aptos"/>
              </a:defRPr>
            </a:pPr>
            <a:r>
              <a:t>LifeData • DSA Hackathon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55624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A4B3CA"/>
                </a:solidFill>
                <a:latin typeface="Aptos"/>
              </a:defRPr>
            </a:pPr>
            <a:r>
              <a:t>CORE JAVA  |  JAVA SWING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CDCDA"/>
                </a:solidFill>
                <a:latin typeface="Aptos"/>
              </a:defRPr>
            </a:pPr>
            <a:r>
              <a:t>05 / TECHNICAL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4F8FF"/>
                </a:solidFill>
                <a:latin typeface="Aptos"/>
              </a:defRPr>
            </a:pPr>
            <a:r>
              <a:t>Simple architecture — no server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A standalone Java Swing application keeps the algorithms close to the interface and easy to run in Eclipse.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A4B3C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1783080"/>
            <a:ext cx="9921240" cy="713232"/>
          </a:xfrm>
          <a:prstGeom prst="roundRect">
            <a:avLst/>
          </a:prstGeom>
          <a:solidFill>
            <a:srgbClr val="162034"/>
          </a:solidFill>
          <a:ln>
            <a:solidFill>
              <a:srgbClr val="2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1920240"/>
            <a:ext cx="23774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29A9FF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38528"/>
            <a:ext cx="6949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4F8FF"/>
                </a:solidFill>
                <a:latin typeface="Aptos"/>
              </a:defRPr>
            </a:pPr>
            <a:r>
              <a:t>Java Swing • CardLayout • JTable • custom-painted charts/graphs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496312"/>
            <a:ext cx="365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A4B3CA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743200"/>
            <a:ext cx="9921240" cy="713232"/>
          </a:xfrm>
          <a:prstGeom prst="roundRect">
            <a:avLst/>
          </a:prstGeom>
          <a:solidFill>
            <a:srgbClr val="162034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2880360"/>
            <a:ext cx="23774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2CDCDA"/>
                </a:solidFill>
                <a:latin typeface="Aptos"/>
              </a:defRPr>
            </a:pPr>
            <a:r>
              <a:t>APPLICATION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98648"/>
            <a:ext cx="6949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4F8FF"/>
                </a:solidFill>
                <a:latin typeface="Aptos"/>
              </a:defRPr>
            </a:pPr>
            <a:r>
              <a:t>DatasetService • Search / execution handlers • benchmark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456432"/>
            <a:ext cx="365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A4B3CA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703320"/>
            <a:ext cx="9921240" cy="713232"/>
          </a:xfrm>
          <a:prstGeom prst="roundRect">
            <a:avLst/>
          </a:prstGeom>
          <a:solidFill>
            <a:srgbClr val="162034"/>
          </a:solidFill>
          <a:ln>
            <a:solidFill>
              <a:srgbClr val="9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17320" y="3840480"/>
            <a:ext cx="23774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9D6FFF"/>
                </a:solidFill>
                <a:latin typeface="Aptos"/>
              </a:defRPr>
            </a:pPr>
            <a:r>
              <a:t>ALGORITHM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858768"/>
            <a:ext cx="6949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4F8FF"/>
                </a:solidFill>
                <a:latin typeface="Aptos"/>
              </a:defRPr>
            </a:pPr>
            <a:r>
              <a:t>String • suffix • DP • flow • constraints • randomized/parallel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416552"/>
            <a:ext cx="365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A4B3CA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663440"/>
            <a:ext cx="9921240" cy="713232"/>
          </a:xfrm>
          <a:prstGeom prst="roundRect">
            <a:avLst/>
          </a:prstGeom>
          <a:solidFill>
            <a:srgbClr val="162034"/>
          </a:solidFill>
          <a:ln>
            <a:solidFill>
              <a:srgbClr val="2DD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800600"/>
            <a:ext cx="23774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2DD499"/>
                </a:solidFill>
                <a:latin typeface="Aptos"/>
              </a:defRPr>
            </a:pPr>
            <a:r>
              <a:t>DATA &amp;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818888"/>
            <a:ext cx="6949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4F8FF"/>
                </a:solidFill>
                <a:latin typeface="Aptos"/>
              </a:defRPr>
            </a:pPr>
            <a:r>
              <a:t>In-memory Java collections • synthetic generator • CSV import/export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715000"/>
            <a:ext cx="9921240" cy="384048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25880" y="5815584"/>
            <a:ext cx="9509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2CDCDA"/>
                </a:solidFill>
                <a:latin typeface="Aptos"/>
              </a:defRPr>
            </a:pPr>
            <a:r>
              <a:t>Runtime: standard JDK  •  IDE: Eclipse  •  External dependencies: none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30425E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A4B3CA"/>
                </a:solidFill>
                <a:latin typeface="Aptos"/>
              </a:defRPr>
            </a:pPr>
            <a:r>
              <a:t>LifeData • DSA Hackathon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55624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A4B3CA"/>
                </a:solidFill>
                <a:latin typeface="Aptos"/>
              </a:defRPr>
            </a:pPr>
            <a:r>
              <a:t>CORE JAVA  |  JAVA SWING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CDCDA"/>
                </a:solidFill>
                <a:latin typeface="Aptos"/>
              </a:defRPr>
            </a:pPr>
            <a:r>
              <a:t>06 / EXAMPLE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4F8FF"/>
                </a:solidFill>
                <a:latin typeface="Aptos"/>
              </a:defRPr>
            </a:pPr>
            <a:r>
              <a:t>From a keyword to a defensible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Demo scenario: find “cardio” across activity notes, then inspect matches and runtime.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A4B3C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83680" cy="425196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6583680" cy="438912"/>
          </a:xfrm>
          <a:prstGeom prst="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929384"/>
            <a:ext cx="42976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CDCDA"/>
                </a:solidFill>
                <a:latin typeface="Aptos"/>
              </a:defRPr>
            </a:pPr>
            <a:r>
              <a:t>LIFEDATA  /  STRING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A4B3CA"/>
                </a:solidFill>
                <a:latin typeface="Aptos"/>
              </a:defRPr>
            </a:pPr>
            <a:r>
              <a:t>Search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880360"/>
            <a:ext cx="2286000" cy="457200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017520"/>
            <a:ext cx="1737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4F8FF"/>
                </a:solidFill>
                <a:latin typeface="Aptos"/>
              </a:defRPr>
            </a:pPr>
            <a:r>
              <a:t>cardio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880360"/>
            <a:ext cx="1371600" cy="457200"/>
          </a:xfrm>
          <a:prstGeom prst="roundRect">
            <a:avLst/>
          </a:prstGeom>
          <a:solidFill>
            <a:srgbClr val="29A9FF"/>
          </a:solidFill>
          <a:ln>
            <a:solidFill>
              <a:srgbClr val="2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5032" y="3026664"/>
            <a:ext cx="10515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0B1120"/>
                </a:solidFill>
                <a:latin typeface="Aptos"/>
              </a:defRPr>
            </a:pPr>
            <a:r>
              <a:t>RUN KMP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CDCDA"/>
                </a:solidFill>
                <a:latin typeface="Aptos"/>
              </a:defRPr>
            </a:pPr>
            <a:r>
              <a:t>MATCHES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977639"/>
            <a:ext cx="5897880" cy="365760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078224"/>
            <a:ext cx="8229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9A9FF"/>
                </a:solidFill>
                <a:latin typeface="Aptos"/>
              </a:defRPr>
            </a:pPr>
            <a:r>
              <a:t>REC-101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078224"/>
            <a:ext cx="45720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4F8FF"/>
                </a:solidFill>
                <a:latin typeface="Aptos"/>
              </a:defRPr>
            </a:pPr>
            <a:r>
              <a:t>... morning jogging 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462272"/>
            <a:ext cx="5897880" cy="365760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562856"/>
            <a:ext cx="8229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9A9FF"/>
                </a:solidFill>
                <a:latin typeface="Aptos"/>
              </a:defRPr>
            </a:pPr>
            <a:r>
              <a:t>REC-106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562856"/>
            <a:ext cx="45720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4F8FF"/>
                </a:solidFill>
                <a:latin typeface="Aptos"/>
              </a:defRPr>
            </a:pPr>
            <a:r>
              <a:t>... uphill sprints ... cardio 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946904"/>
            <a:ext cx="5897880" cy="365760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047488"/>
            <a:ext cx="8229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9A9FF"/>
                </a:solidFill>
                <a:latin typeface="Aptos"/>
              </a:defRPr>
            </a:pPr>
            <a:r>
              <a:t>REC-109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047488"/>
            <a:ext cx="45720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4F8FF"/>
                </a:solidFill>
                <a:latin typeface="Aptos"/>
              </a:defRPr>
            </a:pPr>
            <a:r>
              <a:t>... cardio session completed 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486400"/>
            <a:ext cx="1828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1">
                <a:solidFill>
                  <a:srgbClr val="A4B3CA"/>
                </a:solidFill>
                <a:latin typeface="Aptos"/>
              </a:defRPr>
            </a:pPr>
            <a:r>
              <a:t>Illustrative UI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1965960"/>
            <a:ext cx="2926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CDCDA"/>
                </a:solidFill>
                <a:latin typeface="Aptos"/>
              </a:defRPr>
            </a:pPr>
            <a:r>
              <a:t>WHAT THE JUDGE SEES</a:t>
            </a:r>
          </a:p>
        </p:txBody>
      </p:sp>
      <p:sp>
        <p:nvSpPr>
          <p:cNvPr id="26" name="Oval 25"/>
          <p:cNvSpPr/>
          <p:nvPr/>
        </p:nvSpPr>
        <p:spPr>
          <a:xfrm>
            <a:off x="7818120" y="2468880"/>
            <a:ext cx="109728" cy="10972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37576" y="2395728"/>
            <a:ext cx="33375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4F8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37576" y="2679192"/>
            <a:ext cx="3291840" cy="3657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A keyword and a selected dataset</a:t>
            </a:r>
          </a:p>
        </p:txBody>
      </p:sp>
      <p:sp>
        <p:nvSpPr>
          <p:cNvPr id="29" name="Oval 28"/>
          <p:cNvSpPr/>
          <p:nvPr/>
        </p:nvSpPr>
        <p:spPr>
          <a:xfrm>
            <a:off x="7818120" y="3127248"/>
            <a:ext cx="109728" cy="10972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37576" y="3054096"/>
            <a:ext cx="33375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4F8FF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37576" y="3337560"/>
            <a:ext cx="3291840" cy="3657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Actual Java KMP implementation</a:t>
            </a:r>
          </a:p>
        </p:txBody>
      </p:sp>
      <p:sp>
        <p:nvSpPr>
          <p:cNvPr id="32" name="Oval 31"/>
          <p:cNvSpPr/>
          <p:nvPr/>
        </p:nvSpPr>
        <p:spPr>
          <a:xfrm>
            <a:off x="7818120" y="3785616"/>
            <a:ext cx="109728" cy="10972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37576" y="3712464"/>
            <a:ext cx="33375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4F8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37576" y="3995928"/>
            <a:ext cx="3291840" cy="3657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Matching record IDs and positions</a:t>
            </a:r>
          </a:p>
        </p:txBody>
      </p:sp>
      <p:sp>
        <p:nvSpPr>
          <p:cNvPr id="35" name="Oval 34"/>
          <p:cNvSpPr/>
          <p:nvPr/>
        </p:nvSpPr>
        <p:spPr>
          <a:xfrm>
            <a:off x="7818120" y="4443984"/>
            <a:ext cx="109728" cy="10972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37576" y="4370832"/>
            <a:ext cx="33375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4F8F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6" y="4654296"/>
            <a:ext cx="3291840" cy="3657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Elapsed time and algorithm explanation</a:t>
            </a:r>
          </a:p>
        </p:txBody>
      </p:sp>
      <p:sp>
        <p:nvSpPr>
          <p:cNvPr id="38" name="Oval 37"/>
          <p:cNvSpPr/>
          <p:nvPr/>
        </p:nvSpPr>
        <p:spPr>
          <a:xfrm>
            <a:off x="7818120" y="5102352"/>
            <a:ext cx="109728" cy="10972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37576" y="5029200"/>
            <a:ext cx="33375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4F8FF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37576" y="5312664"/>
            <a:ext cx="3291840" cy="3657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A4B3CA"/>
                </a:solidFill>
                <a:latin typeface="Aptos"/>
              </a:defRPr>
            </a:pPr>
            <a:r>
              <a:t>Why KMP avoids repeated text comparisons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30425E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A4B3CA"/>
                </a:solidFill>
                <a:latin typeface="Aptos"/>
              </a:defRPr>
            </a:pPr>
            <a:r>
              <a:t>LifeData • DSA Hackathon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655624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A4B3CA"/>
                </a:solidFill>
                <a:latin typeface="Aptos"/>
              </a:defRPr>
            </a:pPr>
            <a:r>
              <a:t>CORE JAVA  |  JAVA SWING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CDCDA"/>
                </a:solidFill>
                <a:latin typeface="Aptos"/>
              </a:defRPr>
            </a:pPr>
            <a:r>
              <a:t>07 /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4F8FF"/>
                </a:solidFill>
                <a:latin typeface="Aptos"/>
              </a:defRPr>
            </a:pPr>
            <a:r>
              <a:t>Not just a data table — an algorithm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LifeData is designed to make DSA concepts visible, testable and explainable during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A4B3C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28800"/>
            <a:ext cx="3474720" cy="141732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938528"/>
            <a:ext cx="41148" cy="1197864"/>
          </a:xfrm>
          <a:prstGeom prst="rect">
            <a:avLst/>
          </a:prstGeom>
          <a:solidFill>
            <a:srgbClr val="29A9FF"/>
          </a:solidFill>
          <a:ln>
            <a:solidFill>
              <a:srgbClr val="2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29A9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993392"/>
            <a:ext cx="2670047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4F8FF"/>
                </a:solidFill>
                <a:latin typeface="Aptos"/>
              </a:defRPr>
            </a:pPr>
            <a:r>
              <a:t>Algorithm-first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3090672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Each module focuses on a specific problem and the algorithm that solves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3474720" cy="141732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938528"/>
            <a:ext cx="41148" cy="1197864"/>
          </a:xfrm>
          <a:prstGeom prst="rect">
            <a:avLst/>
          </a:prstGeom>
          <a:solidFill>
            <a:srgbClr val="9D6FFF"/>
          </a:solidFill>
          <a:ln>
            <a:solidFill>
              <a:srgbClr val="9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993392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9D6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1993392"/>
            <a:ext cx="2670047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4F8FF"/>
                </a:solidFill>
                <a:latin typeface="Aptos"/>
              </a:defRPr>
            </a:pPr>
            <a:r>
              <a:t>Explainable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50592"/>
            <a:ext cx="3090672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Tables, paths, traces and graph views expose intermediate steps.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828800"/>
            <a:ext cx="3474720" cy="141732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28431" y="1938528"/>
            <a:ext cx="41148" cy="1197864"/>
          </a:xfrm>
          <a:prstGeom prst="rect">
            <a:avLst/>
          </a:prstGeom>
          <a:solidFill>
            <a:srgbClr val="2DD499"/>
          </a:solidFill>
          <a:ln>
            <a:solidFill>
              <a:srgbClr val="2DD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993392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2DD499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993392"/>
            <a:ext cx="2670047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4F8FF"/>
                </a:solidFill>
                <a:latin typeface="Aptos"/>
              </a:defRPr>
            </a:pPr>
            <a:r>
              <a:t>Performance awareness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50592"/>
            <a:ext cx="3090672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Benchmark workspace records runtime and supports algorithm comparisons.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657600"/>
            <a:ext cx="3474720" cy="141732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232" y="3767328"/>
            <a:ext cx="41148" cy="1197864"/>
          </a:xfrm>
          <a:prstGeom prst="rect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822191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2CDCDA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3822191"/>
            <a:ext cx="2670047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4F8FF"/>
                </a:solidFill>
                <a:latin typeface="Aptos"/>
              </a:defRPr>
            </a:pPr>
            <a:r>
              <a:t>Standalone &amp; portable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79392"/>
            <a:ext cx="3090672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Core Java + Swing; easy to open, compile and run in Eclipse.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3657600"/>
            <a:ext cx="3474720" cy="141732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70832" y="3767328"/>
            <a:ext cx="41148" cy="1197864"/>
          </a:xfrm>
          <a:prstGeom prst="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3822191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FFBE50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3822191"/>
            <a:ext cx="2670047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4F8FF"/>
                </a:solidFill>
                <a:latin typeface="Aptos"/>
              </a:defRPr>
            </a:pPr>
            <a:r>
              <a:t>Synthetic by default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279392"/>
            <a:ext cx="3090672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Demo data avoids needing real personal information.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28431" y="3657600"/>
            <a:ext cx="3474720" cy="141732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28431" y="3767328"/>
            <a:ext cx="41148" cy="1197864"/>
          </a:xfrm>
          <a:prstGeom prst="rect">
            <a:avLst/>
          </a:prstGeom>
          <a:solidFill>
            <a:srgbClr val="FF6987"/>
          </a:solidFill>
          <a:ln>
            <a:solidFill>
              <a:srgbClr val="FF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0" y="3822191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FF6987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822191"/>
            <a:ext cx="2670047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4F8FF"/>
                </a:solidFill>
                <a:latin typeface="Aptos"/>
              </a:defRPr>
            </a:pPr>
            <a:r>
              <a:t>Expandable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279392"/>
            <a:ext cx="3090672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More optimized algorithms and larger datasets can be added module by module.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30425E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A4B3CA"/>
                </a:solidFill>
                <a:latin typeface="Aptos"/>
              </a:defRPr>
            </a:pPr>
            <a:r>
              <a:t>LifeData • DSA Hackathon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655624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A4B3CA"/>
                </a:solidFill>
                <a:latin typeface="Aptos"/>
              </a:defRPr>
            </a:pPr>
            <a:r>
              <a:t>CORE JAVA  |  JAVA SWING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CDCDA"/>
                </a:solidFill>
                <a:latin typeface="Aptos"/>
              </a:defRPr>
            </a:pPr>
            <a:r>
              <a:t>08 / EXPECTED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4F8FF"/>
                </a:solidFill>
                <a:latin typeface="Aptos"/>
              </a:defRPr>
            </a:pPr>
            <a:r>
              <a:t>What LifeData demonstrates to judges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Position the project as an educational analytics prototype, not a production health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A4B3C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CDCDA"/>
                </a:solidFill>
                <a:latin typeface="Aptos"/>
              </a:defRPr>
            </a:pPr>
            <a:r>
              <a:t>FOR USERS / LEARNERS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359152"/>
            <a:ext cx="109728" cy="10972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5" y="2286000"/>
            <a:ext cx="4526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4F8FF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569464"/>
            <a:ext cx="4480560" cy="518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Search and inspect heterogeneous sample records.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170682"/>
            <a:ext cx="109728" cy="10972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6695" y="3097530"/>
            <a:ext cx="4526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4F8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3380994"/>
            <a:ext cx="4480560" cy="518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See how an algorithm reaches its result.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982212"/>
            <a:ext cx="109728" cy="10972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5" y="3909060"/>
            <a:ext cx="4526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4F8F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" y="4192524"/>
            <a:ext cx="4480560" cy="518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Measure runtime on selected inputs.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793742"/>
            <a:ext cx="109728" cy="10972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5" y="4720590"/>
            <a:ext cx="4526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4F8FF"/>
                </a:solidFill>
                <a:latin typeface="Aptos"/>
              </a:defRPr>
            </a:pPr>
            <a:r>
              <a:t>Experiment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5" y="5004053"/>
            <a:ext cx="4480560" cy="518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Change data, parameters and graph structure.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74519"/>
            <a:ext cx="5212080" cy="356616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176272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FBE50"/>
                </a:solidFill>
                <a:latin typeface="Aptos"/>
              </a:defRPr>
            </a:pPr>
            <a:r>
              <a:t>SUCCESS CRITERIA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51760"/>
            <a:ext cx="443484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F4F8FF"/>
                </a:solidFill>
                <a:latin typeface="Aptos"/>
              </a:defRPr>
            </a:pPr>
            <a:r>
              <a:t>✓  All navigation workspaces 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072384"/>
            <a:ext cx="443484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F4F8FF"/>
                </a:solidFill>
                <a:latin typeface="Aptos"/>
              </a:defRPr>
            </a:pPr>
            <a:r>
              <a:t>✓  Core algorithms return correct outputs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493008"/>
            <a:ext cx="443484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F4F8FF"/>
                </a:solidFill>
                <a:latin typeface="Aptos"/>
              </a:defRPr>
            </a:pPr>
            <a:r>
              <a:t>✓  Visualizations reflect actual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913632"/>
            <a:ext cx="443484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F4F8FF"/>
                </a:solidFill>
                <a:latin typeface="Aptos"/>
              </a:defRPr>
            </a:pPr>
            <a:r>
              <a:t>✓  Benchmark timings are measured, not hard-coded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334256"/>
            <a:ext cx="443484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F4F8FF"/>
                </a:solidFill>
                <a:latin typeface="Aptos"/>
              </a:defRPr>
            </a:pPr>
            <a:r>
              <a:t>✓  CSV import/export works on sample 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754880"/>
            <a:ext cx="443484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F4F8FF"/>
                </a:solidFill>
                <a:latin typeface="Aptos"/>
              </a:defRPr>
            </a:pPr>
            <a:r>
              <a:t>✓  Runs locally in Eclipse without a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332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1">
                <a:solidFill>
                  <a:srgbClr val="A4B3CA"/>
                </a:solidFill>
                <a:latin typeface="Aptos"/>
              </a:defRPr>
            </a:pPr>
            <a:r>
              <a:t>Metrics should be captured during the live demo; do not claim speedups without measured evidence.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30425E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A4B3CA"/>
                </a:solidFill>
                <a:latin typeface="Aptos"/>
              </a:defRPr>
            </a:pPr>
            <a:r>
              <a:t>LifeData • DSA Hackathon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655624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A4B3CA"/>
                </a:solidFill>
                <a:latin typeface="Aptos"/>
              </a:defRPr>
            </a:pPr>
            <a:r>
              <a:t>CORE JAVA  |  JAVA SWING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CDCDA"/>
                </a:solidFill>
                <a:latin typeface="Aptos"/>
              </a:defRPr>
            </a:pPr>
            <a:r>
              <a:t>09 / LIVE 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4F8FF"/>
                </a:solidFill>
                <a:latin typeface="Aptos"/>
              </a:defRPr>
            </a:pPr>
            <a:r>
              <a:t>A tight 3-minute judge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Show one clear use case from input → algorithm → result →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A4B3C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28800"/>
            <a:ext cx="384048" cy="384048"/>
          </a:xfrm>
          <a:prstGeom prst="ellipse">
            <a:avLst/>
          </a:prstGeom>
          <a:solidFill>
            <a:srgbClr val="29A9FF"/>
          </a:solidFill>
          <a:ln>
            <a:solidFill>
              <a:srgbClr val="2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29384"/>
            <a:ext cx="384048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0B11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7772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9A9FF"/>
                </a:solidFill>
                <a:latin typeface="Aptos"/>
              </a:defRPr>
            </a:pPr>
            <a:r>
              <a:t>00:00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810512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4F8FF"/>
                </a:solidFill>
                <a:latin typeface="Aptos"/>
              </a:defRPr>
            </a:pPr>
            <a:r>
              <a:t>Open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6309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Introduce synthetic records and the six modules.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" y="2221991"/>
            <a:ext cx="22860" cy="347472"/>
          </a:xfrm>
          <a:prstGeom prst="rect">
            <a:avLst/>
          </a:prstGeom>
          <a:solidFill>
            <a:srgbClr val="30425E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04672" y="2633472"/>
            <a:ext cx="384048" cy="384048"/>
          </a:xfrm>
          <a:prstGeom prst="ellipse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734056"/>
            <a:ext cx="384048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0B112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33472"/>
            <a:ext cx="7772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CDCDA"/>
                </a:solidFill>
                <a:latin typeface="Aptos"/>
              </a:defRPr>
            </a:pPr>
            <a:r>
              <a:t>00:25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615184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4F8FF"/>
                </a:solidFill>
                <a:latin typeface="Aptos"/>
              </a:defRPr>
            </a:pPr>
            <a:r>
              <a:t>Search a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33472"/>
            <a:ext cx="6309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Run KMP or Aho–Corasick; show matching records.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" y="3026664"/>
            <a:ext cx="22860" cy="347472"/>
          </a:xfrm>
          <a:prstGeom prst="rect">
            <a:avLst/>
          </a:prstGeom>
          <a:solidFill>
            <a:srgbClr val="30425E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2" y="3438144"/>
            <a:ext cx="384048" cy="384048"/>
          </a:xfrm>
          <a:prstGeom prst="ellipse">
            <a:avLst/>
          </a:prstGeom>
          <a:solidFill>
            <a:srgbClr val="9D6FFF"/>
          </a:solidFill>
          <a:ln>
            <a:solidFill>
              <a:srgbClr val="9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538728"/>
            <a:ext cx="384048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0B112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438144"/>
            <a:ext cx="7772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9D6FFF"/>
                </a:solidFill>
                <a:latin typeface="Aptos"/>
              </a:defRPr>
            </a:pPr>
            <a:r>
              <a:t>01:05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419856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4F8FF"/>
                </a:solidFill>
                <a:latin typeface="Aptos"/>
              </a:defRPr>
            </a:pPr>
            <a:r>
              <a:t>Solve a decision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438144"/>
            <a:ext cx="6309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Show edit distance or matrix-chain DP table.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" y="3831335"/>
            <a:ext cx="22860" cy="347472"/>
          </a:xfrm>
          <a:prstGeom prst="rect">
            <a:avLst/>
          </a:prstGeom>
          <a:solidFill>
            <a:srgbClr val="30425E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04672" y="4242816"/>
            <a:ext cx="384048" cy="384048"/>
          </a:xfrm>
          <a:prstGeom prst="ellipse">
            <a:avLst/>
          </a:prstGeom>
          <a:solidFill>
            <a:srgbClr val="2DD499"/>
          </a:solidFill>
          <a:ln>
            <a:solidFill>
              <a:srgbClr val="2DD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4343400"/>
            <a:ext cx="384048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0B112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242816"/>
            <a:ext cx="7772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DD499"/>
                </a:solidFill>
                <a:latin typeface="Aptos"/>
              </a:defRPr>
            </a:pPr>
            <a:r>
              <a:t>01:45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224528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4F8FF"/>
                </a:solidFill>
                <a:latin typeface="Aptos"/>
              </a:defRPr>
            </a:pPr>
            <a:r>
              <a:t>Optimize a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42816"/>
            <a:ext cx="6309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Run max-flow and point out the bottleneck/min-cut.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" y="4636008"/>
            <a:ext cx="22860" cy="347472"/>
          </a:xfrm>
          <a:prstGeom prst="rect">
            <a:avLst/>
          </a:prstGeom>
          <a:solidFill>
            <a:srgbClr val="30425E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04672" y="5047488"/>
            <a:ext cx="384048" cy="384048"/>
          </a:xfrm>
          <a:prstGeom prst="ellipse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5148072"/>
            <a:ext cx="384048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0B112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047488"/>
            <a:ext cx="7772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FBE50"/>
                </a:solidFill>
                <a:latin typeface="Aptos"/>
              </a:defRPr>
            </a:pPr>
            <a:r>
              <a:t>02:25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5029200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4F8FF"/>
                </a:solidFill>
                <a:latin typeface="Aptos"/>
              </a:defRPr>
            </a:pPr>
            <a:r>
              <a:t>Benchmark &amp; close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047488"/>
            <a:ext cx="6309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4B3CA"/>
                </a:solidFill>
                <a:latin typeface="Aptos"/>
              </a:defRPr>
            </a:pPr>
            <a:r>
              <a:t>Compare runtimes, state limits and future work.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897880"/>
            <a:ext cx="10698480" cy="347472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" y="5998464"/>
            <a:ext cx="103327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CDCDA"/>
                </a:solidFill>
                <a:latin typeface="Aptos"/>
              </a:defRPr>
            </a:pPr>
            <a:r>
              <a:t>Future enhancements: optimized SA-IS construction • richer dataset imports • larger-scale profiling • additional visual traces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30425E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A4B3CA"/>
                </a:solidFill>
                <a:latin typeface="Aptos"/>
              </a:defRPr>
            </a:pPr>
            <a:r>
              <a:t>LifeData • DSA Hackathon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55624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A4B3CA"/>
                </a:solidFill>
                <a:latin typeface="Aptos"/>
              </a:defRPr>
            </a:pPr>
            <a:r>
              <a:t>CORE JAVA  |  JAVA SWING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685800"/>
            <a:ext cx="1645920" cy="384048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95528"/>
            <a:ext cx="13716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CDCDA"/>
                </a:solidFill>
                <a:latin typeface="Aptos"/>
              </a:defRPr>
            </a:pPr>
            <a:r>
              <a:t>LIFEDATA / DSA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6400800" cy="2331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3500" b="1" i="0">
                <a:solidFill>
                  <a:srgbClr val="F4F8FF"/>
                </a:solidFill>
                <a:latin typeface="Aptos"/>
              </a:defRPr>
            </a:pPr>
            <a:r>
              <a:t>Make algorithms</a:t>
            </a:r>
          </a:p>
          <a:p>
            <a:pPr algn="l">
              <a:spcAft>
                <a:spcPts val="400"/>
              </a:spcAft>
              <a:defRPr sz="3500" b="1" i="0">
                <a:solidFill>
                  <a:srgbClr val="F4F8FF"/>
                </a:solidFill>
                <a:latin typeface="Aptos"/>
              </a:defRPr>
            </a:pPr>
            <a:r>
              <a:t>visible. Make data</a:t>
            </a:r>
          </a:p>
          <a:p>
            <a:pPr algn="l">
              <a:spcAft>
                <a:spcPts val="400"/>
              </a:spcAft>
              <a:defRPr sz="3500" b="1" i="0">
                <a:solidFill>
                  <a:srgbClr val="F4F8FF"/>
                </a:solidFill>
                <a:latin typeface="Aptos"/>
              </a:defRPr>
            </a:pPr>
            <a:r>
              <a:t>more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4297680"/>
            <a:ext cx="64008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700" b="0" i="0">
                <a:solidFill>
                  <a:srgbClr val="A4B3CA"/>
                </a:solidFill>
                <a:latin typeface="Aptos"/>
              </a:defRPr>
            </a:pPr>
            <a:r>
              <a:t>LifeData connects advanced DSA concepts to an interactive, standalone Java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508760"/>
            <a:ext cx="3291840" cy="3291840"/>
          </a:xfrm>
          <a:prstGeom prst="roundRect">
            <a:avLst/>
          </a:prstGeom>
          <a:solidFill>
            <a:srgbClr val="162034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0" y="1810512"/>
            <a:ext cx="2697480" cy="310896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810512"/>
            <a:ext cx="64008" cy="310896"/>
          </a:xfrm>
          <a:prstGeom prst="rect">
            <a:avLst/>
          </a:prstGeom>
          <a:solidFill>
            <a:srgbClr val="29A9FF"/>
          </a:solidFill>
          <a:ln>
            <a:solidFill>
              <a:srgbClr val="2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0" y="1892807"/>
            <a:ext cx="219456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4F8FF"/>
                </a:solidFill>
                <a:latin typeface="Aptos"/>
              </a:defRPr>
            </a:pPr>
            <a:r>
              <a:t>STRINGS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249424"/>
            <a:ext cx="2697480" cy="310896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2249424"/>
            <a:ext cx="64008" cy="310896"/>
          </a:xfrm>
          <a:prstGeom prst="rect">
            <a:avLst/>
          </a:prstGeom>
          <a:solidFill>
            <a:srgbClr val="2CDCDA"/>
          </a:solidFill>
          <a:ln>
            <a:solidFill>
              <a:srgbClr val="2C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2331720"/>
            <a:ext cx="219456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4F8FF"/>
                </a:solidFill>
                <a:latin typeface="Aptos"/>
              </a:defRPr>
            </a:pPr>
            <a:r>
              <a:t>SUFFIX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688336"/>
            <a:ext cx="2697480" cy="310896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2688336"/>
            <a:ext cx="64008" cy="310896"/>
          </a:xfrm>
          <a:prstGeom prst="rect">
            <a:avLst/>
          </a:prstGeom>
          <a:solidFill>
            <a:srgbClr val="9D6FFF"/>
          </a:solidFill>
          <a:ln>
            <a:solidFill>
              <a:srgbClr val="9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2770632"/>
            <a:ext cx="219456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4F8FF"/>
                </a:solidFill>
                <a:latin typeface="Aptos"/>
              </a:defRPr>
            </a:pPr>
            <a:r>
              <a:t>DP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127248"/>
            <a:ext cx="2697480" cy="310896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3127248"/>
            <a:ext cx="64008" cy="310896"/>
          </a:xfrm>
          <a:prstGeom prst="rect">
            <a:avLst/>
          </a:prstGeom>
          <a:solidFill>
            <a:srgbClr val="2DD499"/>
          </a:solidFill>
          <a:ln>
            <a:solidFill>
              <a:srgbClr val="2DD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3209544"/>
            <a:ext cx="219456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4F8FF"/>
                </a:solidFill>
                <a:latin typeface="Aptos"/>
              </a:defRPr>
            </a:pPr>
            <a:r>
              <a:t>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566160"/>
            <a:ext cx="2697480" cy="310896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3566160"/>
            <a:ext cx="64008" cy="310896"/>
          </a:xfrm>
          <a:prstGeom prst="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3648456"/>
            <a:ext cx="219456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4F8FF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005072"/>
            <a:ext cx="2697480" cy="310896"/>
          </a:xfrm>
          <a:prstGeom prst="roundRect">
            <a:avLst/>
          </a:prstGeom>
          <a:solidFill>
            <a:srgbClr val="1D2B42"/>
          </a:solidFill>
          <a:ln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4005072"/>
            <a:ext cx="64008" cy="310896"/>
          </a:xfrm>
          <a:prstGeom prst="rect">
            <a:avLst/>
          </a:prstGeom>
          <a:solidFill>
            <a:srgbClr val="FF6987"/>
          </a:solidFill>
          <a:ln>
            <a:solidFill>
              <a:srgbClr val="FF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4087368"/>
            <a:ext cx="219456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4F8FF"/>
                </a:solidFill>
                <a:latin typeface="Aptos"/>
              </a:defRPr>
            </a:pPr>
            <a:r>
              <a:t>PARALLEL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1500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2CDCD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37960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A4B3C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1136</Words>
  <Application>Microsoft Office PowerPoint</Application>
  <PresentationFormat>Widescreen</PresentationFormat>
  <Paragraphs>251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LifeData — DSA Hackathon Presentation</dc:title>
  <dc:subject>Core Java and Java Swing DSA hackathon project</dc:subject>
  <dc:creator>LifeData Project Team</dc:creator>
  <cp:keywords>LifeData, DSA, Java Swing, Hackathon, Algorithms</cp:keywords>
  <dc:description>generated using python-pptx</dc:description>
  <cp:lastModifiedBy>CHENNUPATI DIDDI NAGA SAI</cp:lastModifiedBy>
  <cp:revision>2</cp:revision>
  <dcterms:created xsi:type="dcterms:W3CDTF">2013-01-27T09:14:16Z</dcterms:created>
  <dcterms:modified xsi:type="dcterms:W3CDTF">2026-10-16T08:17:19Z</dcterms:modified>
  <cp:category/>
</cp:coreProperties>
</file>